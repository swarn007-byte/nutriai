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  <p:sp>
        <p:nvSpPr>
          <p:cNvPr id="5" name="T5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none" dirty="0">
                <a:solidFill>
                  <a:srgbClr val="000000"/>
                </a:solidFill>
                <a:latin typeface="Times New Roman"/>
              </a:rPr>
              <a:t>Nutri-AI: AI-Based Calorie Prediction and Nutrient Estimation from Multi-Item Food Images</a:t>
            </a:r>
          </a:p>
        </p:txBody>
      </p:sp>
      <p:pic>
        <p:nvPicPr>
          <p:cNvPr id="6" name="P6"/>
          <p:cNvPicPr/>
          <p:nvPr/>
        </p:nvPicPr>
        <p:blipFill>
          <a:blip r:embed="rId3"/>
          <a:stretch>
            <a:fillRect/>
          </a:stretch>
        </p:blipFill>
        <p:spPr>
          <a:xfrm>
            <a:off x="5532120" y="1691640"/>
            <a:ext cx="1143000" cy="1005840"/>
          </a:xfrm>
          <a:prstGeom prst="rect">
            <a:avLst/>
          </a:prstGeom>
        </p:spPr>
      </p:pic>
      <p:sp>
        <p:nvSpPr>
          <p:cNvPr id="7" name="T7"/>
          <p:cNvSpPr txBox="1"/>
          <p:nvPr/>
        </p:nvSpPr>
        <p:spPr>
          <a:xfrm>
            <a:off x="0" y="2743200"/>
            <a:ext cx="12191695" cy="41148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0" u="none" dirty="0">
                <a:solidFill>
                  <a:srgbClr val="000000"/>
                </a:solidFill>
                <a:latin typeface="Times New Roman"/>
              </a:rPr>
              <a:t>TEAM ID: &lt;TEAM ID&gt;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0" y="3127248"/>
            <a:ext cx="12191695" cy="384048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200" b="1" u="none" dirty="0">
                <a:solidFill>
                  <a:srgbClr val="000000"/>
                </a:solidFill>
                <a:latin typeface="Times New Roman"/>
              </a:rPr>
              <a:t>Team Members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1463040" y="3529584"/>
            <a:ext cx="4754880" cy="3291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1800" b="0" u="none" dirty="0">
                <a:solidFill>
                  <a:srgbClr val="000000"/>
                </a:solidFill>
                <a:latin typeface="Times New Roman"/>
              </a:rPr>
              <a:t>Student name: Nitya Upadhyay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6309360" y="3529584"/>
            <a:ext cx="4572000" cy="3291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1800" b="0" u="none" dirty="0">
                <a:solidFill>
                  <a:srgbClr val="000000"/>
                </a:solidFill>
                <a:latin typeface="Times New Roman"/>
              </a:rPr>
              <a:t>Roll No: &lt;Roll No&gt;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1463040" y="3877056"/>
            <a:ext cx="4754880" cy="3291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1800" b="0" u="none" dirty="0">
                <a:solidFill>
                  <a:srgbClr val="000000"/>
                </a:solidFill>
                <a:latin typeface="Times New Roman"/>
              </a:rPr>
              <a:t>Student name: Swarn Shekhar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6309360" y="3877056"/>
            <a:ext cx="4572000" cy="3291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1800" b="0" u="none" dirty="0">
                <a:solidFill>
                  <a:srgbClr val="000000"/>
                </a:solidFill>
                <a:latin typeface="Times New Roman"/>
              </a:rPr>
              <a:t>Roll No: &lt;Roll No&gt;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1463040" y="4224528"/>
            <a:ext cx="4754880" cy="3291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1800" b="0" u="none" dirty="0">
                <a:solidFill>
                  <a:srgbClr val="000000"/>
                </a:solidFill>
                <a:latin typeface="Times New Roman"/>
              </a:rPr>
              <a:t>Student name: Rajan Kumar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6309360" y="4224528"/>
            <a:ext cx="4572000" cy="3291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1800" b="0" u="none" dirty="0">
                <a:solidFill>
                  <a:srgbClr val="000000"/>
                </a:solidFill>
                <a:latin typeface="Times New Roman"/>
              </a:rPr>
              <a:t>Roll No: &lt;Roll No&gt;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0" y="4709160"/>
            <a:ext cx="12191695" cy="384048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200" b="1" u="none" dirty="0">
                <a:solidFill>
                  <a:srgbClr val="000000"/>
                </a:solidFill>
                <a:latin typeface="Times New Roman"/>
              </a:rPr>
              <a:t>Project Guide: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0" y="5138928"/>
            <a:ext cx="12191695" cy="384048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0" u="none" dirty="0">
                <a:solidFill>
                  <a:srgbClr val="000000"/>
                </a:solidFill>
                <a:latin typeface="Times New Roman"/>
              </a:rPr>
              <a:t>Department of Information Technology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PROJECT (BIT-753)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AGENDA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2000">
                <a:solidFill>
                  <a:srgbClr val="000000"/>
                </a:solidFill>
                <a:latin typeface="Times New Roman"/>
              </a:defRPr>
            </a:lvl1pPr>
            <a:lvl2pPr>
              <a:defRPr sz="1800">
                <a:solidFill>
                  <a:srgbClr val="000000"/>
                </a:solidFill>
                <a:latin typeface="Times New Roman"/>
              </a:defRPr>
            </a:lvl2pPr>
            <a:lvl3pPr>
              <a:defRPr sz="16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The Problem Domain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The Problem Statement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Vision &amp; Mission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Project Objectives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Key Features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Methodology / Pipeline Stages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Novelty of the Work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Technology Stack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System Architecture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Requirement Analysis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2000"/>
            </a:pPr>
            <a:r>
              <a:rPr lang="en-US" b="0" dirty="0"/>
              <a:t>Team Roles &amp; Responsibilities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PROBLEM DOMAIN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500">
                <a:solidFill>
                  <a:srgbClr val="000000"/>
                </a:solidFill>
                <a:latin typeface="Times New Roman"/>
              </a:defRPr>
            </a:lvl1pPr>
            <a:lvl2pPr>
              <a:defRPr sz="1300">
                <a:solidFill>
                  <a:srgbClr val="000000"/>
                </a:solidFill>
                <a:latin typeface="Times New Roman"/>
              </a:defRPr>
            </a:lvl2pPr>
            <a:lvl3pPr>
              <a:defRPr sz="11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500"/>
            </a:pPr>
            <a:r>
              <a:rPr lang="en-US" b="1" dirty="0"/>
              <a:t>AI-Based Dietary Assessment &amp; Nutrition Estimation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500"/>
            </a:pPr>
            <a:endParaRPr lang="en-US"/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What is it?</a:t>
            </a:r>
            <a:r>
              <a:rPr lang="en-US" b="0" dirty="0"/>
              <a:t> Using computer vision to identify food from a photograph and convert it into calorie and nutrient values.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Domain Knowledge:</a:t>
            </a:r>
            <a:r>
              <a:rPr lang="en-US" b="0" dirty="0"/>
              <a:t> Modern systems combine </a:t>
            </a:r>
            <a:r>
              <a:rPr lang="en-US" b="1" dirty="0"/>
              <a:t>object detection</a:t>
            </a:r>
            <a:r>
              <a:rPr lang="en-US" b="0" dirty="0"/>
              <a:t>, </a:t>
            </a:r>
            <a:r>
              <a:rPr lang="en-US" b="1" dirty="0"/>
              <a:t>monocular depth estimation</a:t>
            </a:r>
            <a:r>
              <a:rPr lang="en-US" b="0" dirty="0"/>
              <a:t>, and </a:t>
            </a:r>
            <a:r>
              <a:rPr lang="en-US" b="1" dirty="0"/>
              <a:t>fine-grained classification</a:t>
            </a:r>
            <a:r>
              <a:rPr lang="en-US" b="0" dirty="0"/>
              <a:t> with standard nutrient databases.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Key Components: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Detection (YOLO family):</a:t>
            </a:r>
            <a:r>
              <a:rPr lang="en-US" b="0" dirty="0"/>
              <a:t> locates multiple food items in a single plate image.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Depth / Volume (MiDaS):</a:t>
            </a:r>
            <a:r>
              <a:rPr lang="en-US" b="0" dirty="0"/>
              <a:t> recovers 3D portion size from a single RGB image.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Fine-Grained Classifier (EfficientNet / ViT):</a:t>
            </a:r>
            <a:r>
              <a:rPr lang="en-US" b="0" dirty="0"/>
              <a:t> separates visually similar dishes.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Why it Matters:</a:t>
            </a:r>
            <a:r>
              <a:rPr lang="en-US" b="0" dirty="0"/>
              <a:t> Diet-related disease is a global epidemic, and manual calorie logging is slow, inaccurate, and rarely sustained.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400">
                <a:solidFill>
                  <a:srgbClr val="000000"/>
                </a:solidFill>
                <a:latin typeface="Times New Roman"/>
              </a:defRPr>
            </a:lvl1pPr>
            <a:lvl2pPr>
              <a:defRPr sz="1200">
                <a:solidFill>
                  <a:srgbClr val="000000"/>
                </a:solidFill>
                <a:latin typeface="Times New Roman"/>
              </a:defRPr>
            </a:lvl2pPr>
            <a:lvl3pPr>
              <a:defRPr sz="10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400"/>
            </a:pPr>
            <a:r>
              <a:rPr lang="en-US" b="0" dirty="0"/>
              <a:t>To build an AI-powered system where a user uploads a </a:t>
            </a:r>
            <a:r>
              <a:rPr lang="en-US" b="1" dirty="0"/>
              <a:t>single picture of their meal</a:t>
            </a:r>
            <a:r>
              <a:rPr lang="en-US" b="0" dirty="0"/>
              <a:t>, and the system automatically identifies the food items, estimates portion sizes, and returns instant calorie and nutrient information.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400"/>
            </a:pPr>
            <a:endParaRPr lang="en-US"/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Problem 1: The Accuracy (Portion) Barrier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1" dirty="0"/>
              <a:t>Issue:</a:t>
            </a:r>
            <a:r>
              <a:rPr lang="en-US" b="0" dirty="0"/>
              <a:t> Existing calorie apps recognise the dish but not </a:t>
            </a:r>
            <a:r>
              <a:rPr lang="en-US" b="1" dirty="0"/>
              <a:t>how much</a:t>
            </a:r>
            <a:r>
              <a:rPr lang="en-US" b="0" dirty="0"/>
              <a:t> of it is on the plate.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1" dirty="0"/>
              <a:t>Reason:</a:t>
            </a:r>
            <a:r>
              <a:rPr lang="en-US" b="0" dirty="0"/>
              <a:t> A single 2D photograph carries no explicit scale or volume information.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1" dirty="0"/>
              <a:t>Impact:</a:t>
            </a:r>
            <a:r>
              <a:rPr lang="en-US" b="0" dirty="0"/>
              <a:t> Studies show users </a:t>
            </a:r>
            <a:r>
              <a:rPr lang="en-US" b="1" dirty="0"/>
              <a:t>underestimate calorie intake by 25-30%</a:t>
            </a:r>
            <a:r>
              <a:rPr lang="en-US" b="0" dirty="0"/>
              <a:t>, ruining fitness and medical diet outcomes.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Problem 2: The Cultural (Dataset) Barrier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1" dirty="0"/>
              <a:t>Issue:</a:t>
            </a:r>
            <a:r>
              <a:rPr lang="en-US" b="0" dirty="0"/>
              <a:t> High-performing food models are trained almost entirely on </a:t>
            </a:r>
            <a:r>
              <a:rPr lang="en-US" b="1" dirty="0"/>
              <a:t>Western dishes</a:t>
            </a:r>
            <a:r>
              <a:rPr lang="en-US" b="0" dirty="0"/>
              <a:t>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1" dirty="0"/>
              <a:t>Reason:</a:t>
            </a:r>
            <a:r>
              <a:rPr lang="en-US" b="0" dirty="0"/>
              <a:t> Indian platters are multi-item, mixed, and visually similar (dal vs sambhar, paneer vs tofu).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1" dirty="0"/>
              <a:t>Impact:</a:t>
            </a:r>
            <a:r>
              <a:rPr lang="en-US" b="0" dirty="0"/>
              <a:t> Recognition fails for regional cuisine, so the nutrient values applied are simply wrong.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DEEP DIVE INTO THE PROBLEM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400">
                <a:solidFill>
                  <a:srgbClr val="000000"/>
                </a:solidFill>
                <a:latin typeface="Times New Roman"/>
              </a:defRPr>
            </a:lvl1pPr>
            <a:lvl2pPr>
              <a:defRPr sz="1200">
                <a:solidFill>
                  <a:srgbClr val="000000"/>
                </a:solidFill>
                <a:latin typeface="Times New Roman"/>
              </a:defRPr>
            </a:lvl2pPr>
            <a:lvl3pPr>
              <a:defRPr sz="10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400"/>
            </a:pPr>
            <a:r>
              <a:rPr lang="en-US" b="1" dirty="0"/>
              <a:t>Scale of the Health Burden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400"/>
            </a:pPr>
            <a:endParaRPr lang="en-US"/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According to the </a:t>
            </a:r>
            <a:r>
              <a:rPr lang="en-US" b="1" dirty="0"/>
              <a:t>World Health Organization (WHO, 2024)</a:t>
            </a:r>
            <a:r>
              <a:rPr lang="en-US" b="0" dirty="0"/>
              <a:t>, more than </a:t>
            </a:r>
            <a:r>
              <a:rPr lang="en-US" b="1" dirty="0"/>
              <a:t>2.5 billion adults</a:t>
            </a:r>
            <a:r>
              <a:rPr lang="en-US" b="0" dirty="0"/>
              <a:t> are overweight - that is </a:t>
            </a:r>
            <a:r>
              <a:rPr lang="en-US" b="1" dirty="0"/>
              <a:t>1 in every 3 people</a:t>
            </a:r>
            <a:r>
              <a:rPr lang="en-US" b="0" dirty="0"/>
              <a:t> worldwide.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Obesity rates have tripled</a:t>
            </a:r>
            <a:r>
              <a:rPr lang="en-US" b="0" dirty="0"/>
              <a:t> since 1975, driven by poor diet quality and sedentary lifestyles.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Over </a:t>
            </a:r>
            <a:r>
              <a:rPr lang="en-US" b="1" dirty="0"/>
              <a:t>650 million adults</a:t>
            </a:r>
            <a:r>
              <a:rPr lang="en-US" b="0" dirty="0"/>
              <a:t> are clinically obese, leading to an epidemic of </a:t>
            </a:r>
            <a:r>
              <a:rPr lang="en-US" b="1" dirty="0"/>
              <a:t>lifestyle diseases</a:t>
            </a:r>
            <a:r>
              <a:rPr lang="en-US" b="0" dirty="0"/>
              <a:t>: Type-2 Diabetes, Hypertension, Cardiovascular disease, NAFLD.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India has </a:t>
            </a:r>
            <a:r>
              <a:rPr lang="en-US" b="1" dirty="0"/>
              <a:t>135 million obese individuals</a:t>
            </a:r>
            <a:r>
              <a:rPr lang="en-US" b="0" dirty="0"/>
              <a:t> and over </a:t>
            </a:r>
            <a:r>
              <a:rPr lang="en-US" b="1" dirty="0"/>
              <a:t>101 million diabetics</a:t>
            </a:r>
            <a:r>
              <a:rPr lang="en-US" b="0" dirty="0"/>
              <a:t> (ICMR Report, 2023).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Urban youth and students</a:t>
            </a:r>
            <a:r>
              <a:rPr lang="en-US" b="0" dirty="0"/>
              <a:t> are at high risk: irregular eating habits, fast-food dependence, lack of dietary awareness.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ICMR notes that </a:t>
            </a:r>
            <a:r>
              <a:rPr lang="en-US" b="1" dirty="0"/>
              <a:t>diet-related diseases account for over 60% of premature deaths</a:t>
            </a:r>
            <a:r>
              <a:rPr lang="en-US" b="0" dirty="0"/>
              <a:t> in India.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People are </a:t>
            </a:r>
            <a:r>
              <a:rPr lang="en-US" b="1" dirty="0"/>
              <a:t>aware</a:t>
            </a:r>
            <a:r>
              <a:rPr lang="en-US" b="0" dirty="0"/>
              <a:t> of healthy eating - but </a:t>
            </a:r>
            <a:r>
              <a:rPr lang="en-US" b="1" dirty="0"/>
              <a:t>do not track it accurately</a:t>
            </a:r>
            <a:r>
              <a:rPr lang="en-US" b="0" dirty="0"/>
              <a:t>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VISION &amp; MISSION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700">
                <a:solidFill>
                  <a:srgbClr val="000000"/>
                </a:solidFill>
                <a:latin typeface="Times New Roman"/>
              </a:defRPr>
            </a:lvl1pPr>
            <a:lvl2pPr>
              <a:defRPr sz="1500">
                <a:solidFill>
                  <a:srgbClr val="000000"/>
                </a:solidFill>
                <a:latin typeface="Times New Roman"/>
              </a:defRPr>
            </a:lvl2pPr>
            <a:lvl3pPr>
              <a:defRPr sz="13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700"/>
            </a:pPr>
            <a:r>
              <a:rPr lang="en-US" b="1" dirty="0"/>
              <a:t>Vision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700"/>
            </a:pPr>
            <a:endParaRPr lang="en-US"/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700"/>
            </a:pPr>
            <a:r>
              <a:rPr lang="en-US" b="0" dirty="0"/>
              <a:t>"We want people to eat healthy, live healthy, and enjoy their lives - with just a little precaution."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700"/>
            </a:pPr>
            <a:endParaRPr lang="en-US"/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700"/>
            </a:pPr>
            <a:r>
              <a:rPr lang="en-US" b="1" dirty="0"/>
              <a:t>Mission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700"/>
            </a:pPr>
            <a:endParaRPr lang="en-US"/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700"/>
            </a:pPr>
            <a:r>
              <a:rPr lang="en-US" b="0" dirty="0"/>
              <a:t>To make </a:t>
            </a:r>
            <a:r>
              <a:rPr lang="en-US" b="1" dirty="0"/>
              <a:t>nutrition awareness and healthy eating simple, accurate, and accessible</a:t>
            </a:r>
            <a:r>
              <a:rPr lang="en-US" b="0" dirty="0"/>
              <a:t> to everyone - using intelligent, one-click technology that eliminates confusion about what we eat.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700"/>
            </a:pPr>
            <a:endParaRPr lang="en-US"/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700"/>
            </a:pPr>
            <a:r>
              <a:rPr lang="en-US" b="1" dirty="0"/>
              <a:t>Guiding Principle:</a:t>
            </a:r>
            <a:r>
              <a:rPr lang="en-US" b="0" dirty="0"/>
              <a:t> "Eat what you love, but know what you eat."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PROJECT OBJECTIVES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400">
                <a:solidFill>
                  <a:srgbClr val="000000"/>
                </a:solidFill>
                <a:latin typeface="Times New Roman"/>
              </a:defRPr>
            </a:lvl1pPr>
            <a:lvl2pPr>
              <a:defRPr sz="1200">
                <a:solidFill>
                  <a:srgbClr val="000000"/>
                </a:solidFill>
                <a:latin typeface="Times New Roman"/>
              </a:defRPr>
            </a:lvl2pPr>
            <a:lvl3pPr>
              <a:defRPr sz="10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Objective 1 (Platform):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0" dirty="0"/>
              <a:t>To develop an intelligent nutrition platform - a web/mobile application that uses AI to analyse a meal in </a:t>
            </a:r>
            <a:r>
              <a:rPr lang="en-US" b="1" dirty="0"/>
              <a:t>one click</a:t>
            </a:r>
            <a:r>
              <a:rPr lang="en-US" b="0" dirty="0"/>
              <a:t>, detecting food items, estimating volume, and returning detailed nutritional values.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Objective 2 (Simplification):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0" dirty="0"/>
              <a:t>To eliminate </a:t>
            </a:r>
            <a:r>
              <a:rPr lang="en-US" b="1" dirty="0"/>
              <a:t>manual data entry</a:t>
            </a:r>
            <a:r>
              <a:rPr lang="en-US" b="0" dirty="0"/>
              <a:t> found in traditional calorie apps by providing automated, one-click calorie and portion estimation.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Objective 3 (Awareness):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0" dirty="0"/>
              <a:t>To promote healthy eating habits by showing users accurate calorie and nutrient details, and to increase public awareness of balanced diets and portion control.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Objective 4 (Reach &amp; Engagement):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00"/>
            </a:pPr>
            <a:r>
              <a:rPr lang="en-US" b="0" dirty="0"/>
              <a:t>To target students, fitness enthusiasts, and healthcare users, aiming to influence </a:t>
            </a:r>
            <a:r>
              <a:rPr lang="en-US" b="1" dirty="0"/>
              <a:t>10+ million people</a:t>
            </a:r>
            <a:r>
              <a:rPr lang="en-US" b="0" dirty="0"/>
              <a:t> globally, and to make tracking </a:t>
            </a:r>
            <a:r>
              <a:rPr lang="en-US" b="1" dirty="0"/>
              <a:t>fun, visual, and engaging</a:t>
            </a:r>
            <a:r>
              <a:rPr lang="en-US" b="0" dirty="0"/>
              <a:t> through dashboards, gamified challenges, and AI insights.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KEY FEATURES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400">
                <a:solidFill>
                  <a:srgbClr val="000000"/>
                </a:solidFill>
                <a:latin typeface="Times New Roman"/>
              </a:defRPr>
            </a:lvl1pPr>
            <a:lvl2pPr>
              <a:defRPr sz="1200">
                <a:solidFill>
                  <a:srgbClr val="000000"/>
                </a:solidFill>
                <a:latin typeface="Times New Roman"/>
              </a:defRPr>
            </a:lvl2pPr>
            <a:lvl3pPr>
              <a:defRPr sz="10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Daily Calorie &amp; Nutrition Tracker:</a:t>
            </a:r>
            <a:r>
              <a:rPr lang="en-US" b="0" dirty="0"/>
              <a:t> Logs meals automatically and displays total calories, protein-carb-fat ratio, vitamins/minerals, and a daily diet-quality score.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Diet Balance Score &amp; Insights:</a:t>
            </a:r>
            <a:r>
              <a:rPr lang="en-US" b="0" dirty="0"/>
              <a:t> </a:t>
            </a:r>
            <a:r>
              <a:rPr lang="en-US" b="1" dirty="0"/>
              <a:t>Weekly reports</a:t>
            </a:r>
            <a:r>
              <a:rPr lang="en-US" b="0" dirty="0"/>
              <a:t> on eating patterns, calorie trends, nutrient deficiencies, and overall diet performance.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Disease-Specific Diet Alerts:</a:t>
            </a:r>
            <a:r>
              <a:rPr lang="en-US" b="0" dirty="0"/>
              <a:t> Detects harmful ingredients and </a:t>
            </a:r>
            <a:r>
              <a:rPr lang="en-US" b="1" dirty="0"/>
              <a:t>warns users based on their medical condition</a:t>
            </a:r>
            <a:r>
              <a:rPr lang="en-US" b="0" dirty="0"/>
              <a:t> (high sugar for diabetes, high sodium for hypertension).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Doctor-Linked Diet Monitoring:</a:t>
            </a:r>
            <a:r>
              <a:rPr lang="en-US" b="0" dirty="0"/>
              <a:t> Lets users </a:t>
            </a:r>
            <a:r>
              <a:rPr lang="en-US" b="1" dirty="0"/>
              <a:t>share nutrition data with doctors</a:t>
            </a:r>
            <a:r>
              <a:rPr lang="en-US" b="0" dirty="0"/>
              <a:t> or dieticians for continuous medical guidance.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Medication-Aligned Diet Guidance:</a:t>
            </a:r>
            <a:r>
              <a:rPr lang="en-US" b="0" dirty="0"/>
              <a:t> Suggests safe and unsafe foods based on medication requirements (e.g., avoiding high-GI meals, increasing fibre).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Macro Tracking for Fitness Goals:</a:t>
            </a:r>
            <a:r>
              <a:rPr lang="en-US" b="0" dirty="0"/>
              <a:t> Calculates daily protein, carb, and fat targets for muscle gain, fat loss, or maintenance.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Workout Compensation Calculator:</a:t>
            </a:r>
            <a:r>
              <a:rPr lang="en-US" b="0" dirty="0"/>
              <a:t> Estimates how much exercise is required to burn the calories of a high-calorie or fast-food item.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METHODOLOGY - STAGES 1 TO 3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350">
                <a:solidFill>
                  <a:srgbClr val="000000"/>
                </a:solidFill>
                <a:latin typeface="Times New Roman"/>
              </a:defRPr>
            </a:lvl1pPr>
            <a:lvl2pPr>
              <a:defRPr sz="1150">
                <a:solidFill>
                  <a:srgbClr val="000000"/>
                </a:solidFill>
                <a:latin typeface="Times New Roman"/>
              </a:defRPr>
            </a:lvl2pPr>
            <a:lvl3pPr>
              <a:defRPr sz="95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50"/>
            </a:pPr>
            <a:r>
              <a:rPr lang="en-US" b="1" dirty="0"/>
              <a:t>1. Food Detection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150"/>
            </a:pPr>
            <a:r>
              <a:rPr lang="en-US" b="0" dirty="0"/>
              <a:t>Detecting and localising each individual food item in a single image of a platter.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150"/>
            </a:pPr>
            <a:r>
              <a:rPr lang="en-US" b="0" dirty="0"/>
              <a:t>Identifying foods automatically </a:t>
            </a:r>
            <a:r>
              <a:rPr lang="en-US" b="1" dirty="0"/>
              <a:t>eliminates manual logging</a:t>
            </a:r>
            <a:r>
              <a:rPr lang="en-US" b="0" dirty="0"/>
              <a:t>, reduces user effort and error, and provides the foundation for accurate volume and nutrient estimation.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50"/>
            </a:pPr>
            <a:r>
              <a:rPr lang="en-US" b="1" dirty="0"/>
              <a:t>2. Volume Estimation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150"/>
            </a:pPr>
            <a:r>
              <a:rPr lang="en-US" b="0" dirty="0"/>
              <a:t>Estimating the </a:t>
            </a:r>
            <a:r>
              <a:rPr lang="en-US" b="1" dirty="0"/>
              <a:t>3D portion size</a:t>
            </a:r>
            <a:r>
              <a:rPr lang="en-US" b="0" dirty="0"/>
              <a:t> (volume or weight) of each detected item from the image, using depth information and reference metrics.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150"/>
            </a:pPr>
            <a:r>
              <a:rPr lang="en-US" b="0" dirty="0"/>
              <a:t>Knowing the actual portion makes calorie and nutrient calculation far more accurate than recognising the food type alone - especially useful for </a:t>
            </a:r>
            <a:r>
              <a:rPr lang="en-US" b="1" dirty="0"/>
              <a:t>health monitoring</a:t>
            </a:r>
            <a:r>
              <a:rPr lang="en-US" b="0" dirty="0"/>
              <a:t> (weight, diabetes).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50"/>
            </a:pPr>
            <a:r>
              <a:rPr lang="en-US" b="1" dirty="0"/>
              <a:t>3. Fine-Grained Classification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150"/>
            </a:pPr>
            <a:r>
              <a:rPr lang="en-US" b="0" dirty="0"/>
              <a:t>Distinguishing between </a:t>
            </a:r>
            <a:r>
              <a:rPr lang="en-US" b="1" dirty="0"/>
              <a:t>visually similar food items</a:t>
            </a:r>
            <a:r>
              <a:rPr lang="en-US" b="0" dirty="0"/>
              <a:t> - paneer from tofu, dal from sambhar - using a refined classification model.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150"/>
            </a:pPr>
            <a:r>
              <a:rPr lang="en-US" b="0" dirty="0"/>
              <a:t>Accurate classification ensures the nutritional values applied are correct for the exact dish; mistaking a dish causes large calorie/nutrient errors.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METHODOLOGY - STAGES 4 TO 5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500">
                <a:solidFill>
                  <a:srgbClr val="000000"/>
                </a:solidFill>
                <a:latin typeface="Times New Roman"/>
              </a:defRPr>
            </a:lvl1pPr>
            <a:lvl2pPr>
              <a:defRPr sz="1300">
                <a:solidFill>
                  <a:srgbClr val="000000"/>
                </a:solidFill>
                <a:latin typeface="Times New Roman"/>
              </a:defRPr>
            </a:lvl2pPr>
            <a:lvl3pPr>
              <a:defRPr sz="11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4. Calorie Estimation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0" dirty="0"/>
              <a:t>Estimating the energy content (kcal) of each identified food item based on its </a:t>
            </a:r>
            <a:r>
              <a:rPr lang="en-US" b="1" dirty="0"/>
              <a:t>volume</a:t>
            </a:r>
            <a:r>
              <a:rPr lang="en-US" b="0" dirty="0"/>
              <a:t> (from Stage 2) and </a:t>
            </a:r>
            <a:r>
              <a:rPr lang="en-US" b="1" dirty="0"/>
              <a:t>food type</a:t>
            </a:r>
            <a:r>
              <a:rPr lang="en-US" b="0" dirty="0"/>
              <a:t> (from Stages 1 and 3).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How it helps:</a:t>
            </a:r>
            <a:r>
              <a:rPr lang="en-US" b="0" dirty="0"/>
              <a:t> Provides the user with the key metric they care about - calories - in an automated way, making diet tracking simple, fast, and less error-prone.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5. Macro &amp; Micro Nutrient Estimation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0" dirty="0"/>
              <a:t>Calculating detailed nutrient content - proteins, fats, carbs, vitamins, minerals - for each item, using established nutrient databases and scaling them by estimated volume.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How it helps:</a:t>
            </a:r>
            <a:r>
              <a:rPr lang="en-US" b="0" dirty="0"/>
              <a:t> Offers deeper insight beyond calories, enabling users and health professionals to address specific nutrient goals or deficiencies - for example managing diabetes, heart health, or general wellness.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NOVELTY OF THE WORK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500">
                <a:solidFill>
                  <a:srgbClr val="000000"/>
                </a:solidFill>
                <a:latin typeface="Times New Roman"/>
              </a:defRPr>
            </a:lvl1pPr>
            <a:lvl2pPr>
              <a:defRPr sz="1300">
                <a:solidFill>
                  <a:srgbClr val="000000"/>
                </a:solidFill>
                <a:latin typeface="Times New Roman"/>
              </a:defRPr>
            </a:lvl2pPr>
            <a:lvl3pPr>
              <a:defRPr sz="11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500"/>
            </a:pPr>
            <a:r>
              <a:rPr lang="en-US" b="1" dirty="0"/>
              <a:t>Why Nutri-AI Outperforms Existing Systems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500"/>
            </a:pPr>
            <a:endParaRPr lang="en-US"/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Complete End-to-End Pipeline: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0" dirty="0"/>
              <a:t>Unlike older models that only estimate calories, Nutri-AI integrates </a:t>
            </a:r>
            <a:r>
              <a:rPr lang="en-US" b="1" dirty="0"/>
              <a:t>detection, depth-based volume estimation, fine-grained classification, and nutrient prediction</a:t>
            </a:r>
            <a:r>
              <a:rPr lang="en-US" b="0" dirty="0"/>
              <a:t> - all in one unified AI system.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Culturally Adaptive Dataset: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0" dirty="0"/>
              <a:t>Existing works are trained mostly on Western dishes. Nutri-AI is </a:t>
            </a:r>
            <a:r>
              <a:rPr lang="en-US" b="1" dirty="0"/>
              <a:t>specifically fine-tuned for Indian food platters</a:t>
            </a:r>
            <a:r>
              <a:rPr lang="en-US" b="0" dirty="0"/>
              <a:t>, making it far more relevant and accurate for regional cuisines.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Portion-Aware, Not Just Dish-Aware: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0" dirty="0"/>
              <a:t>Depth-based volume estimation turns a flat photograph into a real-world quantity (ml/g), which is the single largest source of error in existing calorie apps.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TECHNOLOGY STACK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250">
                <a:solidFill>
                  <a:srgbClr val="000000"/>
                </a:solidFill>
                <a:latin typeface="Times New Roman"/>
              </a:defRPr>
            </a:lvl1pPr>
            <a:lvl2pPr>
              <a:defRPr sz="1050">
                <a:solidFill>
                  <a:srgbClr val="000000"/>
                </a:solidFill>
                <a:latin typeface="Times New Roman"/>
              </a:defRPr>
            </a:lvl2pPr>
            <a:lvl3pPr>
              <a:defRPr sz="85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250"/>
            </a:pPr>
            <a:r>
              <a:rPr lang="en-US" b="1" dirty="0"/>
              <a:t>Frontend (UI / Mobile)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React Native (Expo + TypeScript):</a:t>
            </a:r>
            <a:r>
              <a:rPr lang="en-US" b="0" dirty="0"/>
              <a:t> Cross-platform app for Android/iOS.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TailwindCSS (NativeWind):</a:t>
            </a:r>
            <a:r>
              <a:rPr lang="en-US" b="0" dirty="0"/>
              <a:t> Lightweight, responsive UI styling.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Expo Camera &amp; Location:</a:t>
            </a:r>
            <a:r>
              <a:rPr lang="en-US" b="0" dirty="0"/>
              <a:t> Capture food photos with GPS tagging.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250"/>
            </a:pPr>
            <a:r>
              <a:rPr lang="en-US" b="1" dirty="0"/>
              <a:t>Backend (API &amp; Server)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Node.js + NestJS (TypeScript):</a:t>
            </a:r>
            <a:r>
              <a:rPr lang="en-US" b="0" dirty="0"/>
              <a:t> Modular REST API with clean structure.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Authentication:</a:t>
            </a:r>
            <a:r>
              <a:rPr lang="en-US" b="0" dirty="0"/>
              <a:t> JWT tokens; optional Google/Apple OAuth.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250"/>
            </a:pPr>
            <a:r>
              <a:rPr lang="en-US" b="1" dirty="0"/>
              <a:t>AI &amp; ML Integration (Core Focus)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Object Detection:</a:t>
            </a:r>
            <a:r>
              <a:rPr lang="en-US" b="0" dirty="0"/>
              <a:t> YOLOv8 for multi-item food identification.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Depth / Volume Estimation:</a:t>
            </a:r>
            <a:r>
              <a:rPr lang="en-US" b="0" dirty="0"/>
              <a:t> MiDaS or similar depth models.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Fine-Grained Classification:</a:t>
            </a:r>
            <a:r>
              <a:rPr lang="en-US" b="0" dirty="0"/>
              <a:t> EfficientNet / MobileNet / ViT for dish types.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OCR &amp; Vision:</a:t>
            </a:r>
            <a:r>
              <a:rPr lang="en-US" b="0" dirty="0"/>
              <a:t> Google Vision API for text extraction (menus, labels).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Language Models:</a:t>
            </a:r>
            <a:r>
              <a:rPr lang="en-US" b="0" dirty="0"/>
              <a:t> FastText / NLP for multilingual input and embeddings.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250"/>
            </a:pPr>
            <a:r>
              <a:rPr lang="en-US" b="1" dirty="0"/>
              <a:t>Data Engineering &amp; ML Infra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250"/>
            </a:pPr>
            <a:r>
              <a:rPr lang="en-US" b="1" dirty="0"/>
              <a:t>MLflow:</a:t>
            </a:r>
            <a:r>
              <a:rPr lang="en-US" b="0" dirty="0"/>
              <a:t> Track experiments, models, and metrics.  </a:t>
            </a:r>
            <a:r>
              <a:rPr lang="en-US" b="1" dirty="0"/>
              <a:t>Docker &amp; Compose:</a:t>
            </a:r>
            <a:r>
              <a:rPr lang="en-US" b="0" dirty="0"/>
              <a:t> Containerized local and cloud setup.  </a:t>
            </a:r>
            <a:r>
              <a:rPr lang="en-US" b="1" dirty="0"/>
              <a:t>GitHub Actions:</a:t>
            </a:r>
            <a:r>
              <a:rPr lang="en-US" b="0" dirty="0"/>
              <a:t> CI/CD for testing and deployment.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400">
                <a:solidFill>
                  <a:srgbClr val="000000"/>
                </a:solidFill>
                <a:latin typeface="Times New Roman"/>
              </a:defRPr>
            </a:lvl1pPr>
            <a:lvl2pPr>
              <a:defRPr sz="1200">
                <a:solidFill>
                  <a:srgbClr val="000000"/>
                </a:solidFill>
                <a:latin typeface="Times New Roman"/>
              </a:defRPr>
            </a:lvl2pPr>
            <a:lvl3pPr>
              <a:defRPr sz="10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400"/>
            </a:pPr>
            <a:r>
              <a:rPr lang="en-US" b="1" dirty="0"/>
              <a:t>Architecture Pipeline Overview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400"/>
            </a:pPr>
            <a:endParaRPr lang="en-US"/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1. Input Layer - Image Acquisition:</a:t>
            </a:r>
            <a:r>
              <a:rPr lang="en-US" b="0" dirty="0"/>
              <a:t> User captures a </a:t>
            </a:r>
            <a:r>
              <a:rPr lang="en-US" b="1" dirty="0"/>
              <a:t>food platter image</a:t>
            </a:r>
            <a:r>
              <a:rPr lang="en-US" b="0" dirty="0"/>
              <a:t> via camera or mobile app. Image preprocessing: resizing, normalization, and enhancement.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2. Food Detection (YOLOv5):</a:t>
            </a:r>
            <a:r>
              <a:rPr lang="en-US" b="0" dirty="0"/>
              <a:t> Detects and labels </a:t>
            </a:r>
            <a:r>
              <a:rPr lang="en-US" b="1" dirty="0"/>
              <a:t>multiple food items</a:t>
            </a:r>
            <a:r>
              <a:rPr lang="en-US" b="0" dirty="0"/>
              <a:t> in a single image. Generates bounding boxes and class labels for each dish.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3. Depth &amp; Volume Estimation (MiDaS-v3):</a:t>
            </a:r>
            <a:r>
              <a:rPr lang="en-US" b="0" dirty="0"/>
              <a:t> Produces a </a:t>
            </a:r>
            <a:r>
              <a:rPr lang="en-US" b="1" dirty="0"/>
              <a:t>depth map</a:t>
            </a:r>
            <a:r>
              <a:rPr lang="en-US" b="0" dirty="0"/>
              <a:t> from the single RGB image. Converts pixel depth into real-world </a:t>
            </a:r>
            <a:r>
              <a:rPr lang="en-US" b="1" dirty="0"/>
              <a:t>volume estimation (ml/g)</a:t>
            </a:r>
            <a:r>
              <a:rPr lang="en-US" b="0" dirty="0"/>
              <a:t> using plate-size calibration.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4. Fine-Grained Classification (EfficientNet-B3 + Attention):</a:t>
            </a:r>
            <a:r>
              <a:rPr lang="en-US" b="0" dirty="0"/>
              <a:t> Differentiates visually similar items (dal vs sambhar, paneer vs tofu). Ensures precise identification for nutrient mapping.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5. Calorie &amp; Nutrient Estimation Module:</a:t>
            </a:r>
            <a:r>
              <a:rPr lang="en-US" b="0" dirty="0"/>
              <a:t> Retrieves </a:t>
            </a:r>
            <a:r>
              <a:rPr lang="en-US" b="1" dirty="0"/>
              <a:t>micro- and macronutrient values</a:t>
            </a:r>
            <a:r>
              <a:rPr lang="en-US" b="0" dirty="0"/>
              <a:t> from the USDA + Indian Food Composition Tables. Applies </a:t>
            </a:r>
            <a:r>
              <a:rPr lang="en-US" b="1" dirty="0"/>
              <a:t>regression correction</a:t>
            </a:r>
            <a:r>
              <a:rPr lang="en-US" b="0" dirty="0"/>
              <a:t> for real-world preparation variations.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REQUIREMENT ANALYSIS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400">
                <a:solidFill>
                  <a:srgbClr val="000000"/>
                </a:solidFill>
                <a:latin typeface="Times New Roman"/>
              </a:defRPr>
            </a:lvl1pPr>
            <a:lvl2pPr>
              <a:defRPr sz="1200">
                <a:solidFill>
                  <a:srgbClr val="000000"/>
                </a:solidFill>
                <a:latin typeface="Times New Roman"/>
              </a:defRPr>
            </a:lvl2pPr>
            <a:lvl3pPr>
              <a:defRPr sz="10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400"/>
            </a:pPr>
            <a:r>
              <a:rPr lang="en-US" b="1" dirty="0"/>
              <a:t>1. Hardware Requirements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8GB+ RAM for model training and inference.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High-resolution camera for image acquisition.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Storage: ~100GB for dataset and model checkpoints.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400"/>
            </a:pPr>
            <a:r>
              <a:rPr lang="en-US" b="1" dirty="0"/>
              <a:t>2. Software Requirements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Operating System:</a:t>
            </a:r>
            <a:r>
              <a:rPr lang="en-US" b="0" dirty="0"/>
              <a:t> Windows / Linux.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Programming Language:</a:t>
            </a:r>
            <a:r>
              <a:rPr lang="en-US" b="0" dirty="0"/>
              <a:t> Python 3.10+.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1" dirty="0"/>
              <a:t>Frameworks &amp; Libraries:</a:t>
            </a:r>
            <a:r>
              <a:rPr lang="en-US" b="0" dirty="0"/>
              <a:t> PyTorch, TensorFlow (deep learning); OpenCV (image processing); YOLOv5, MiDaS, EfficientNet; NumPy, Pandas, Scikit-learn (data handling); Flask / Streamlit (web dashboard).</a:t>
            </a:r>
          </a:p>
          <a:p>
            <a:pPr lvl="0" marL="0" indent="0">
              <a:lnSpc>
                <a:spcPct val="100000"/>
              </a:lnSpc>
              <a:spcBef>
                <a:spcPts val="300"/>
              </a:spcBef>
              <a:buNone/>
              <a:defRPr sz="1400"/>
            </a:pPr>
            <a:r>
              <a:rPr lang="en-US" b="1" dirty="0"/>
              <a:t>3. Dataset Requirements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Food-101 and IndianFood101 public datasets.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Custom-curated Indian platter dataset (</a:t>
            </a:r>
            <a:r>
              <a:rPr lang="en-US" b="1" dirty="0"/>
              <a:t>10,000+ annotated images</a:t>
            </a:r>
            <a:r>
              <a:rPr lang="en-US" b="0" dirty="0"/>
              <a:t>).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400"/>
            </a:pPr>
            <a:r>
              <a:rPr lang="en-US" b="0" dirty="0"/>
              <a:t>Data augmentation for lighting, rotation, and occlusion variation.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3017520" y="18288"/>
            <a:ext cx="9144000" cy="603504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3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" y="91440"/>
            <a:ext cx="2880360" cy="457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3017520" y="18288"/>
            <a:ext cx="9144000" cy="60350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800" b="1" u="sng" dirty="0">
                <a:solidFill>
                  <a:srgbClr val="FFFFFF"/>
                </a:solidFill>
                <a:latin typeface="Times New Roman"/>
              </a:rPr>
              <a:t>TEAM ROLES &amp; RESPONSIBILITIES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502920" y="868680"/>
            <a:ext cx="11201400" cy="52578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>
            <a:lvl1pPr>
              <a:defRPr sz="1500">
                <a:solidFill>
                  <a:srgbClr val="000000"/>
                </a:solidFill>
                <a:latin typeface="Times New Roman"/>
              </a:defRPr>
            </a:lvl1pPr>
            <a:lvl2pPr>
              <a:defRPr sz="1300">
                <a:solidFill>
                  <a:srgbClr val="000000"/>
                </a:solidFill>
                <a:latin typeface="Times New Roman"/>
              </a:defRPr>
            </a:lvl2pPr>
            <a:lvl3pPr>
              <a:defRPr sz="1100">
                <a:solidFill>
                  <a:srgbClr val="000000"/>
                </a:solidFill>
                <a:latin typeface="Times New Roman"/>
              </a:defRPr>
            </a:lvl3pPr>
          </a:lstStyle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Nitya Upadhyay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Focus:</a:t>
            </a:r>
            <a:r>
              <a:rPr lang="en-US" b="0" dirty="0"/>
              <a:t> Detection &amp; Volume Estimation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Responsibilities:</a:t>
            </a:r>
            <a:r>
              <a:rPr lang="en-US" b="0" dirty="0"/>
              <a:t> Design and implementation of the YOLO detection stage and the MiDaS depth-to-volume module. Manages model training and evaluation for Stages 1-2.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Swarn Shekhar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Focus:</a:t>
            </a:r>
            <a:r>
              <a:rPr lang="en-US" b="0" dirty="0"/>
              <a:t> Classification &amp; Nutrient Estimation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Responsibilities:</a:t>
            </a:r>
            <a:r>
              <a:rPr lang="en-US" b="0" dirty="0"/>
              <a:t> Develops the fine-grained classifier and the calorie/nutrient mapping pipeline. Manages overall project timeline, integration, and the final analysis.</a:t>
            </a:r>
          </a:p>
          <a:p>
            <a:pPr lvl="0" marL="28575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500"/>
            </a:pPr>
            <a:r>
              <a:rPr lang="en-US" b="1" dirty="0"/>
              <a:t>Rajan Kumar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Focus:</a:t>
            </a:r>
            <a:r>
              <a:rPr lang="en-US" b="0" dirty="0"/>
              <a:t> Dataset &amp; Application</a:t>
            </a:r>
          </a:p>
          <a:p>
            <a:pPr lvl="1" marL="571500" indent="-28575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defRPr sz="1300"/>
            </a:pPr>
            <a:r>
              <a:rPr lang="en-US" b="1" dirty="0"/>
              <a:t>Responsibilities:</a:t>
            </a:r>
            <a:r>
              <a:rPr lang="en-US" b="0" dirty="0"/>
              <a:t> Collects, cleans, and annotates the Indian food platter dataset. Builds the frontend/backend application and deployment infrastructure.</a:t>
            </a:r>
          </a:p>
        </p:txBody>
      </p:sp>
      <p:sp>
        <p:nvSpPr>
          <p:cNvPr id="8" name="R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9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b="1" u="none" dirty="0">
                <a:solidFill>
                  <a:srgbClr val="FFFFFF"/>
                </a:solidFill>
                <a:latin typeface="Times New Roman"/>
              </a:rPr>
              <a:t>Department of Information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gotias">
  <a:themeElements>
    <a:clrScheme name="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8545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